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2026-04-26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92608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542925"/>
            <a:ext cx="82296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Flight Data Engineering</a:t>
            </a:r>
            <a:endParaRPr lang="en-US" sz="3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Pipeline &amp; Dashboard Analysis</a:t>
            </a:r>
            <a:endParaRPr lang="en-US" sz="3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 </a:t>
            </a:r>
            <a:endParaRPr lang="en-US" sz="3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End-to-end Data Engineering  ·  ETL (Pentaho)  ·  Power BI Dashboards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84048" y="2197989"/>
            <a:ext cx="4572000" cy="36576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4048" y="2380869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A6B9A">
              <a:alpha val="85000"/>
            </a:srgbClr>
          </a:solidFill>
          <a:ln w="6350">
            <a:solidFill>
              <a:srgbClr val="1A6B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2380869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MySQL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956816" y="2380869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9B59B6">
              <a:alpha val="85000"/>
            </a:srgbClr>
          </a:solidFill>
          <a:ln w="6350">
            <a:solidFill>
              <a:srgbClr val="9B59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56816" y="2380869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Pentaho Spoon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529584" y="2380869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A7A55">
              <a:alpha val="85000"/>
            </a:srgbClr>
          </a:solidFill>
          <a:ln w="6350">
            <a:solidFill>
              <a:srgbClr val="1A7A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29584" y="2380869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102352" y="2380869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8553E">
              <a:alpha val="85000"/>
            </a:srgbClr>
          </a:solidFill>
          <a:ln w="6350">
            <a:solidFill>
              <a:srgbClr val="E855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02352" y="2380869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445K Rows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4048" y="2856357"/>
            <a:ext cx="192024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833497"/>
            <a:ext cx="672084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2929509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375K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84048" y="3404997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Flights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32888" y="2856357"/>
            <a:ext cx="192024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697480" y="2833497"/>
            <a:ext cx="672084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32888" y="2929509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2532888" y="3404997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Dashboards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81728" y="2856357"/>
            <a:ext cx="192024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2833497"/>
            <a:ext cx="672084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81728" y="2929509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6K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4681728" y="3404997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Optimized Rows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84048" y="4828032"/>
            <a:ext cx="83759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✈  Prepared for Interviews · LinkedIn Portfolio · Academic Presentations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0" grpId="0"/>
      <p:bldP spid="12" grpId="0"/>
      <p:bldP spid="15" grpId="0"/>
      <p:bldP spid="16" grpId="0"/>
      <p:bldP spid="19" grpId="0"/>
      <p:bldP spid="20" grpId="0"/>
      <p:bldP spid="23" grpId="0"/>
      <p:bldP spid="24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 /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📌  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Why this project needed to be built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63040"/>
            <a:ext cx="8449056" cy="960120"/>
          </a:xfrm>
          <a:prstGeom prst="roundRect">
            <a:avLst>
              <a:gd name="adj" fmla="val 17143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440180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691640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1554480"/>
            <a:ext cx="7223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Massive Raw Dataset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61872" y="192024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445,000+ rows of raw US flight data — completely unstructured and impossible to analyze directly in any BI tool without optimization first.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472" y="2578608"/>
            <a:ext cx="8449056" cy="960120"/>
          </a:xfrm>
          <a:prstGeom prst="roundRect">
            <a:avLst>
              <a:gd name="adj" fmla="val 17143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" y="2555748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807208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61872" y="2670048"/>
            <a:ext cx="7223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 Analytical Structure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61872" y="3035808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had no grouping, schema, or model. Queries were slow, and there was no clean way to slice by airline, city, or delay type.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47472" y="3694176"/>
            <a:ext cx="8449056" cy="960120"/>
          </a:xfrm>
          <a:prstGeom prst="roundRect">
            <a:avLst>
              <a:gd name="adj" fmla="val 17143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9B59B6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064" y="3671316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92277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61872" y="3785616"/>
            <a:ext cx="7223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Performance Bottleneck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61872" y="4151376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Loading raw data into SQL and Power BI caused extreme lag. Dashboards couldn't filter in real-time, making the tool unusable for business stakeholders.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4" grpId="0"/>
      <p:bldP spid="15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 / OBJECTIVE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🎯  Project Objective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we set out to achieve — end to 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4059936" cy="1554480"/>
          </a:xfrm>
          <a:prstGeom prst="roundRect">
            <a:avLst>
              <a:gd name="adj" fmla="val 10588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394460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087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15087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" y="1965960"/>
            <a:ext cx="378561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End-to-End Pipeline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" y="2313432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 a fully automated pipeline from raw MySQL → ETL → cleaned MySQL → SQL Views → Power BI dashboards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36592" y="1417320"/>
            <a:ext cx="4059936" cy="1554480"/>
          </a:xfrm>
          <a:prstGeom prst="roundRect">
            <a:avLst>
              <a:gd name="adj" fmla="val 10588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01184" y="1394460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73752" y="15087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2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15087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73752" y="1965960"/>
            <a:ext cx="378561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Clean &amp; Transform Data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73752" y="2313432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Remove 50–60 irrelevant columns, aggregate 445K rows → 6K rows using GROUP BY and aggregation functions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47472" y="3063240"/>
            <a:ext cx="4059936" cy="1554480"/>
          </a:xfrm>
          <a:prstGeom prst="roundRect">
            <a:avLst>
              <a:gd name="adj" fmla="val 10588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9B59B6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2064" y="3040380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" y="31546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59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2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8" y="315468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4632" y="3611880"/>
            <a:ext cx="378561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 Schema Modeling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84632" y="3959352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Design a dimensional model with fact and dimension tables for fast, flexible analytical queries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36592" y="3063240"/>
            <a:ext cx="4059936" cy="1554480"/>
          </a:xfrm>
          <a:prstGeom prst="roundRect">
            <a:avLst>
              <a:gd name="adj" fmla="val 10588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901184" y="3040380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73752" y="31546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2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315468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73752" y="3611880"/>
            <a:ext cx="378561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Business Dashboards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873752" y="3959352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Deliver 4 Power BI dashboards: Overview, Airline Performance, Route Analysis, and Delay Root Cause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10" grpId="0"/>
      <p:bldP spid="11" grpId="0"/>
      <p:bldP spid="14" grpId="0"/>
      <p:bldP spid="16" grpId="0"/>
      <p:bldP spid="17" grpId="0"/>
      <p:bldP spid="20" grpId="0"/>
      <p:bldP spid="22" grpId="0"/>
      <p:bldP spid="23" grpId="0"/>
      <p:bldP spid="26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 /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🏗️  Architecture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MySQL → ETL → MySQL → SQL Views → Power BI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920240"/>
            <a:ext cx="1481328" cy="1280160"/>
          </a:xfrm>
          <a:prstGeom prst="roundRect">
            <a:avLst>
              <a:gd name="adj" fmla="val 1285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" y="1897380"/>
            <a:ext cx="518465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121408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MySQL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Raw Data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880360"/>
            <a:ext cx="1298448" cy="246888"/>
          </a:xfrm>
          <a:prstGeom prst="roundRect">
            <a:avLst>
              <a:gd name="adj" fmla="val 44444"/>
            </a:avLst>
          </a:prstGeom>
          <a:solidFill>
            <a:srgbClr val="A8D8EA">
              <a:alpha val="70000"/>
            </a:srgbClr>
          </a:solidFill>
          <a:ln w="6350">
            <a:solidFill>
              <a:srgbClr val="A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880360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Source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37360" y="233172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039112" y="1920240"/>
            <a:ext cx="1481328" cy="1280160"/>
          </a:xfrm>
          <a:prstGeom prst="roundRect">
            <a:avLst>
              <a:gd name="adj" fmla="val 1285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03704" y="1897380"/>
            <a:ext cx="518465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2121408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Pentaho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Spoon ETL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30552" y="2880360"/>
            <a:ext cx="1298448" cy="246888"/>
          </a:xfrm>
          <a:prstGeom prst="roundRect">
            <a:avLst>
              <a:gd name="adj" fmla="val 44444"/>
            </a:avLst>
          </a:prstGeom>
          <a:solidFill>
            <a:srgbClr val="F4A828">
              <a:alpha val="70000"/>
            </a:srgbClr>
          </a:solidFill>
          <a:ln w="6350">
            <a:solidFill>
              <a:srgbClr val="F4A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0552" y="2880360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Transform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20440" y="233172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822192" y="1920240"/>
            <a:ext cx="1481328" cy="1280160"/>
          </a:xfrm>
          <a:prstGeom prst="roundRect">
            <a:avLst>
              <a:gd name="adj" fmla="val 1285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86784" y="1897380"/>
            <a:ext cx="518465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2121408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MySQL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Cleaned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913632" y="2880360"/>
            <a:ext cx="1298448" cy="246888"/>
          </a:xfrm>
          <a:prstGeom prst="roundRect">
            <a:avLst>
              <a:gd name="adj" fmla="val 44444"/>
            </a:avLst>
          </a:prstGeom>
          <a:solidFill>
            <a:srgbClr val="A8D8EA">
              <a:alpha val="70000"/>
            </a:srgbClr>
          </a:solidFill>
          <a:ln w="6350">
            <a:solidFill>
              <a:srgbClr val="A8D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13632" y="2880360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Storage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0" y="233172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605272" y="1920240"/>
            <a:ext cx="1481328" cy="1280160"/>
          </a:xfrm>
          <a:prstGeom prst="roundRect">
            <a:avLst>
              <a:gd name="adj" fmla="val 1285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9864" y="1897380"/>
            <a:ext cx="518465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05272" y="2121408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SQL Views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vw_flight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96712" y="2880360"/>
            <a:ext cx="1298448" cy="246888"/>
          </a:xfrm>
          <a:prstGeom prst="roundRect">
            <a:avLst>
              <a:gd name="adj" fmla="val 44444"/>
            </a:avLst>
          </a:prstGeom>
          <a:solidFill>
            <a:srgbClr val="2ECC8E">
              <a:alpha val="70000"/>
            </a:srgbClr>
          </a:solidFill>
          <a:ln w="6350">
            <a:solidFill>
              <a:srgbClr val="2ECC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96712" y="2880360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Analytical Layer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86600" y="233172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›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7388352" y="1920240"/>
            <a:ext cx="1481328" cy="1280160"/>
          </a:xfrm>
          <a:prstGeom prst="roundRect">
            <a:avLst>
              <a:gd name="adj" fmla="val 1285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52944" y="1897380"/>
            <a:ext cx="518465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2121408"/>
            <a:ext cx="14813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479792" y="2880360"/>
            <a:ext cx="1298448" cy="246888"/>
          </a:xfrm>
          <a:prstGeom prst="roundRect">
            <a:avLst>
              <a:gd name="adj" fmla="val 44444"/>
            </a:avLst>
          </a:prstGeom>
          <a:solidFill>
            <a:srgbClr val="E8553E">
              <a:alpha val="70000"/>
            </a:srgbClr>
          </a:solidFill>
          <a:ln w="6350">
            <a:solidFill>
              <a:srgbClr val="E855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2880360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Visualization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7472" y="3429000"/>
            <a:ext cx="8449056" cy="1417320"/>
          </a:xfrm>
          <a:prstGeom prst="roundRect">
            <a:avLst>
              <a:gd name="adj" fmla="val 11613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9B59B6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12064" y="3406140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54787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3822192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Pull 445K rows from MySQL source using Spoon transformation jobs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97480" y="354787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Transformation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697480" y="3822192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Apply GROUP BY, SUM, AVG · Reduce to ~6K analytical rows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54787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Modeling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0" y="3822192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Create vw_flight_analysis SQL view with star schema structure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95160" y="354787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95160" y="3822192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Connect Power BI → DirectQuery/Import · Build 4 dashboards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10" grpId="0"/>
      <p:bldP spid="11" grpId="0"/>
      <p:bldP spid="14" grpId="0"/>
      <p:bldP spid="16" grpId="0"/>
      <p:bldP spid="17" grpId="0"/>
      <p:bldP spid="20" grpId="0"/>
      <p:bldP spid="22" grpId="0"/>
      <p:bldP spid="23" grpId="0"/>
      <p:bldP spid="26" grpId="0"/>
      <p:bldP spid="28" grpId="0"/>
      <p:bldP spid="29" grpId="0"/>
      <p:bldP spid="32" grpId="0"/>
      <p:bldP spid="34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 / WORKFLOW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🔄  End-to-End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5-stage data engineering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572768" cy="2880360"/>
          </a:xfrm>
          <a:prstGeom prst="roundRect">
            <a:avLst>
              <a:gd name="adj" fmla="val 10465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394460"/>
            <a:ext cx="550469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27048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3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1031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2743200"/>
            <a:ext cx="14264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1752" y="3154680"/>
            <a:ext cx="1426464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Pull raw flights from MySQL using Spoon input step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84248" y="1417320"/>
            <a:ext cx="1572768" cy="2880360"/>
          </a:xfrm>
          <a:prstGeom prst="roundRect">
            <a:avLst>
              <a:gd name="adj" fmla="val 10465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48840" y="1394460"/>
            <a:ext cx="550469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84248" y="1527048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3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12" y="21031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2743200"/>
            <a:ext cx="14264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Cleaning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057400" y="3154680"/>
            <a:ext cx="1426464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Drop 50–60 columns · Standardize types · Handle nulls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739896" y="1417320"/>
            <a:ext cx="1572768" cy="2880360"/>
          </a:xfrm>
          <a:prstGeom prst="roundRect">
            <a:avLst>
              <a:gd name="adj" fmla="val 10465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904488" y="1394460"/>
            <a:ext cx="550469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39896" y="1527048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3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10312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13048" y="2743200"/>
            <a:ext cx="14264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813048" y="3154680"/>
            <a:ext cx="1426464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GROUP BY aggregation · 445K → 6K rows · AVG delays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95544" y="1417320"/>
            <a:ext cx="1572768" cy="2880360"/>
          </a:xfrm>
          <a:prstGeom prst="roundRect">
            <a:avLst>
              <a:gd name="adj" fmla="val 10465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9B59B6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660136" y="1394460"/>
            <a:ext cx="550469" cy="54864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495544" y="1527048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B59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3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608" y="210312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68696" y="2743200"/>
            <a:ext cx="14264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Modeling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568696" y="3154680"/>
            <a:ext cx="1426464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 schema · Dimension tables · vw_flight_analysis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7251192" y="1417320"/>
            <a:ext cx="1572768" cy="2880360"/>
          </a:xfrm>
          <a:prstGeom prst="roundRect">
            <a:avLst>
              <a:gd name="adj" fmla="val 10465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415784" y="1394460"/>
            <a:ext cx="550469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251192" y="1527048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05</a:t>
            </a:r>
            <a:endParaRPr lang="en-US" sz="30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3256" y="2103120"/>
            <a:ext cx="548640" cy="5486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24344" y="2743200"/>
            <a:ext cx="14264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7324344" y="3154680"/>
            <a:ext cx="1426464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 Power BI dashboards · Interactive · Filterable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10" grpId="0"/>
      <p:bldP spid="11" grpId="0"/>
      <p:bldP spid="14" grpId="0"/>
      <p:bldP spid="16" grpId="0"/>
      <p:bldP spid="17" grpId="0"/>
      <p:bldP spid="20" grpId="0"/>
      <p:bldP spid="22" grpId="0"/>
      <p:bldP spid="23" grpId="0"/>
      <p:bldP spid="26" grpId="0"/>
      <p:bldP spid="28" grpId="0"/>
      <p:bldP spid="29" grpId="0"/>
      <p:bldP spid="32" grpId="0"/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05 / DATA PREP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🧹  Data Cleaning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Stripping noise, keeping signal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3474720" cy="3383280"/>
          </a:xfrm>
          <a:prstGeom prst="roundRect">
            <a:avLst>
              <a:gd name="adj" fmla="val 4865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394460"/>
            <a:ext cx="1216152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3619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50–60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Columns Removed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~20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353872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Columns Kept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445K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57200" y="454456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Total Source Rows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69080" y="1417320"/>
            <a:ext cx="4727448" cy="3383280"/>
          </a:xfrm>
          <a:prstGeom prst="roundRect">
            <a:avLst>
              <a:gd name="adj" fmla="val 4865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33672" y="1394460"/>
            <a:ext cx="1654607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536192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Cleaning Actions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1965960"/>
            <a:ext cx="443484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Removed tail numbers, cancellation codes &amp; carrier-specific internal columns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Retained: AirlineName, OriginCity, DestCity, Month, Year, all Delay fields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Standardized all date/time formats and string capitalizations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Replaced NULL delay values with 0 (no delay occurred)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Validated data types: INT for counts, FLOAT for delay minutes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06 / TRANSFORM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⚙️  Data Transformation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Aggregating 445K rows into 6K insight-ready rows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3749040" cy="1828800"/>
          </a:xfrm>
          <a:prstGeom prst="roundRect">
            <a:avLst>
              <a:gd name="adj" fmla="val 900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394460"/>
            <a:ext cx="1312164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BEFORE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445,827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rows · Slow · Redundant · Unoptimized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Direct Power BI load took minutes to refresh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42232" y="1920240"/>
            <a:ext cx="8595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⟶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096512" y="2514600"/>
            <a:ext cx="9509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98.7%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reduction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47488" y="1417320"/>
            <a:ext cx="3749040" cy="1828800"/>
          </a:xfrm>
          <a:prstGeom prst="roundRect">
            <a:avLst>
              <a:gd name="adj" fmla="val 900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1394460"/>
            <a:ext cx="1312164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50876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AFTER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1755648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~6,324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5166360" y="246888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rows · Fast · Clean · Dashboard-ready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2761488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Sub-second Power BI filter response time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3401568"/>
            <a:ext cx="8449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Techniques used in Pentaho Spoon transformation: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749040"/>
            <a:ext cx="2598725" cy="274320"/>
          </a:xfrm>
          <a:prstGeom prst="roundRect">
            <a:avLst>
              <a:gd name="adj" fmla="val 46667"/>
            </a:avLst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749040"/>
            <a:ext cx="259872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GROUP BY Airline + City + Month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10789" y="3749040"/>
            <a:ext cx="1548994" cy="274320"/>
          </a:xfrm>
          <a:prstGeom prst="roundRect">
            <a:avLst>
              <a:gd name="adj" fmla="val 46667"/>
            </a:avLst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0789" y="3749040"/>
            <a:ext cx="15489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SUM(DelayMinutes)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24374" y="3749040"/>
            <a:ext cx="1548994" cy="274320"/>
          </a:xfrm>
          <a:prstGeom prst="roundRect">
            <a:avLst>
              <a:gd name="adj" fmla="val 46667"/>
            </a:avLst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4374" y="3749040"/>
            <a:ext cx="15489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AVG(WeatherDelay)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37960" y="3749040"/>
            <a:ext cx="1324051" cy="274320"/>
          </a:xfrm>
          <a:prstGeom prst="roundRect">
            <a:avLst>
              <a:gd name="adj" fmla="val 46667"/>
            </a:avLst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749040"/>
            <a:ext cx="1324051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COUNT(Flights)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55568" y="4352925"/>
            <a:ext cx="2373782" cy="274320"/>
          </a:xfrm>
          <a:prstGeom prst="roundRect">
            <a:avLst>
              <a:gd name="adj" fmla="val 46667"/>
            </a:avLst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5568" y="4352925"/>
            <a:ext cx="237378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SQL View: vw_flight_analysis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0" grpId="0"/>
      <p:bldP spid="22" grpId="0"/>
      <p:bldP spid="24" grpId="0"/>
      <p:bldP spid="26" grpId="0"/>
      <p:bldP spid="28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07 / MODELING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🧱  Data Modeling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 schema — optimized for analytical queries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874520"/>
            <a:ext cx="2743200" cy="1463040"/>
          </a:xfrm>
          <a:prstGeom prst="roundRect">
            <a:avLst>
              <a:gd name="adj" fmla="val 1125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64992" y="1851660"/>
            <a:ext cx="960120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9385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⭐  FACT TABLE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22311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vw_flight_analysis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00400" y="260604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TotalFlights · AvgDelays · Routes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2331720" cy="1051560"/>
          </a:xfrm>
          <a:prstGeom prst="roundRect">
            <a:avLst>
              <a:gd name="adj" fmla="val 15652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1440180"/>
            <a:ext cx="816102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5448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Airline Dim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4048" y="19202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AirlineName ·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2331720" cy="1051560"/>
          </a:xfrm>
          <a:prstGeom prst="roundRect">
            <a:avLst>
              <a:gd name="adj" fmla="val 15652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3131820"/>
            <a:ext cx="816102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24612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Airport Dim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4048" y="36118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OriginCity · DestCity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2331720" cy="1051560"/>
          </a:xfrm>
          <a:prstGeom prst="roundRect">
            <a:avLst>
              <a:gd name="adj" fmla="val 15652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9B59B6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1440180"/>
            <a:ext cx="816102" cy="54864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155448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Date Dim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10528" y="19202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Year · Month · Quarter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154680"/>
            <a:ext cx="2331720" cy="1051560"/>
          </a:xfrm>
          <a:prstGeom prst="roundRect">
            <a:avLst>
              <a:gd name="adj" fmla="val 15652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65392" y="3131820"/>
            <a:ext cx="816102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24612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Route Dim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10528" y="36118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Origin → Destination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9" grpId="0"/>
      <p:bldP spid="10" grpId="0"/>
      <p:bldP spid="13" grpId="0"/>
      <p:bldP spid="14" grpId="0"/>
      <p:bldP spid="17" grpId="0"/>
      <p:bldP spid="18" grpId="0"/>
      <p:bldP spid="21" grpId="0"/>
      <p:bldP spid="22" grpId="0"/>
      <p:bldP spid="25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08 / 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🗂️  Dataset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Final view: vw_flight_analysis — the backbone of all dashboards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8449056" cy="347472"/>
          </a:xfrm>
          <a:prstGeom prst="roundRect">
            <a:avLst>
              <a:gd name="adj" fmla="val 15789"/>
            </a:avLst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Column 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4356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43560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764792"/>
            <a:ext cx="8449056" cy="365760"/>
          </a:xfrm>
          <a:prstGeom prst="roundRect">
            <a:avLst>
              <a:gd name="adj" fmla="val 12500"/>
            </a:avLst>
          </a:prstGeom>
          <a:solidFill>
            <a:srgbClr val="130C2F">
              <a:alpha val="75000"/>
            </a:srgbClr>
          </a:solidFill>
          <a:ln w="6350">
            <a:solidFill>
              <a:srgbClr val="2A1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1965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AirlineName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181965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VARCHAR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181965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Name of the airline carrier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167128"/>
            <a:ext cx="8449056" cy="365760"/>
          </a:xfrm>
          <a:prstGeom prst="roundRect">
            <a:avLst>
              <a:gd name="adj" fmla="val 12500"/>
            </a:avLst>
          </a:prstGeom>
          <a:solidFill>
            <a:srgbClr val="0D0820">
              <a:alpha val="75000"/>
            </a:srgbClr>
          </a:solidFill>
          <a:ln w="6350">
            <a:solidFill>
              <a:srgbClr val="2A1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2199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OriginCity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22219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VARCHAR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222199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Departure city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569464"/>
            <a:ext cx="8449056" cy="365760"/>
          </a:xfrm>
          <a:prstGeom prst="roundRect">
            <a:avLst>
              <a:gd name="adj" fmla="val 12500"/>
            </a:avLst>
          </a:prstGeom>
          <a:solidFill>
            <a:srgbClr val="130C2F">
              <a:alpha val="75000"/>
            </a:srgbClr>
          </a:solidFill>
          <a:ln w="6350">
            <a:solidFill>
              <a:srgbClr val="2A1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2432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DestCity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26243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VARCHAR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2624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Destination city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2971800"/>
            <a:ext cx="8449056" cy="365760"/>
          </a:xfrm>
          <a:prstGeom prst="roundRect">
            <a:avLst>
              <a:gd name="adj" fmla="val 12500"/>
            </a:avLst>
          </a:prstGeom>
          <a:solidFill>
            <a:srgbClr val="0D0820">
              <a:alpha val="75000"/>
            </a:srgbClr>
          </a:solidFill>
          <a:ln w="6350">
            <a:solidFill>
              <a:srgbClr val="2A1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2666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Month / Year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08960" y="302666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3026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Time dimensions for trend analysis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374136"/>
            <a:ext cx="8449056" cy="365760"/>
          </a:xfrm>
          <a:prstGeom prst="roundRect">
            <a:avLst>
              <a:gd name="adj" fmla="val 12500"/>
            </a:avLst>
          </a:prstGeom>
          <a:solidFill>
            <a:srgbClr val="130C2F">
              <a:alpha val="75000"/>
            </a:srgbClr>
          </a:solidFill>
          <a:ln w="6350">
            <a:solidFill>
              <a:srgbClr val="2A1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290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TotalFlights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08960" y="34290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26280" y="342900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Aggregated flight count per group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776472"/>
            <a:ext cx="8449056" cy="365760"/>
          </a:xfrm>
          <a:prstGeom prst="roundRect">
            <a:avLst>
              <a:gd name="adj" fmla="val 12500"/>
            </a:avLst>
          </a:prstGeom>
          <a:solidFill>
            <a:srgbClr val="0D0820">
              <a:alpha val="75000"/>
            </a:srgbClr>
          </a:solidFill>
          <a:ln w="6350">
            <a:solidFill>
              <a:srgbClr val="2A1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83133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AvgWeatherDelay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383133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FLOAT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26280" y="383133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Average weather delay in minutes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4178808"/>
            <a:ext cx="8449056" cy="365760"/>
          </a:xfrm>
          <a:prstGeom prst="roundRect">
            <a:avLst>
              <a:gd name="adj" fmla="val 12500"/>
            </a:avLst>
          </a:prstGeom>
          <a:solidFill>
            <a:srgbClr val="130C2F">
              <a:alpha val="75000"/>
            </a:srgbClr>
          </a:solidFill>
          <a:ln w="6350">
            <a:solidFill>
              <a:srgbClr val="2A1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336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AvgNASDelay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08960" y="423367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FLOAT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26280" y="423367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Average NAS system delay (mins)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" y="4581144"/>
            <a:ext cx="8449056" cy="365760"/>
          </a:xfrm>
          <a:prstGeom prst="roundRect">
            <a:avLst>
              <a:gd name="adj" fmla="val 12500"/>
            </a:avLst>
          </a:prstGeom>
          <a:solidFill>
            <a:srgbClr val="0D0820">
              <a:alpha val="75000"/>
            </a:srgbClr>
          </a:solidFill>
          <a:ln w="6350">
            <a:solidFill>
              <a:srgbClr val="2A1F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63600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AvgLateAircraftDelay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08960" y="46360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FLOAT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26280" y="463600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Average late-aircraft delay (mins)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1" grpId="0"/>
      <p:bldP spid="12" grpId="0"/>
      <p:bldP spid="13" grpId="0"/>
      <p:bldP spid="15" grpId="0"/>
      <p:bldP spid="16" grpId="0"/>
      <p:bldP spid="17" grpId="0"/>
      <p:bldP spid="19" grpId="0"/>
      <p:bldP spid="20" grpId="0"/>
      <p:bldP spid="21" grpId="0"/>
      <p:bldP spid="23" grpId="0"/>
      <p:bldP spid="24" grpId="0"/>
      <p:bldP spid="25" grpId="0"/>
      <p:bldP spid="27" grpId="0"/>
      <p:bldP spid="28" grpId="0"/>
      <p:bldP spid="29" grpId="0"/>
      <p:bldP spid="31" grpId="0"/>
      <p:bldP spid="32" grpId="0"/>
      <p:bldP spid="33" grpId="0"/>
      <p:bldP spid="35" grpId="0"/>
      <p:bldP spid="36" grpId="0"/>
      <p:bldP spid="37" grpId="0"/>
      <p:bldP spid="39" grpId="0"/>
      <p:bldP spid="40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09 / DASHBOARDS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📊  Dashboard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 interactive Power BI dashboards for business intelligence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059936" cy="1600200"/>
          </a:xfrm>
          <a:prstGeom prst="roundRect">
            <a:avLst>
              <a:gd name="adj" fmla="val 10286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367028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81328"/>
            <a:ext cx="38313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Dashboard 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755648"/>
            <a:ext cx="3831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Overview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4632" y="2176272"/>
            <a:ext cx="38313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KPIs · Top Airlines · Origin Cities · Delay Breakdown by airline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1389888"/>
            <a:ext cx="4059936" cy="1600200"/>
          </a:xfrm>
          <a:prstGeom prst="roundRect">
            <a:avLst>
              <a:gd name="adj" fmla="val 10286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01184" y="1367028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481328"/>
            <a:ext cx="38313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Dashboard 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73752" y="1755648"/>
            <a:ext cx="3831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Airline Performance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73752" y="2176272"/>
            <a:ext cx="38313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Scatter Plot (Flights vs Weather Delay) · Delay Scores · Rankings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081528"/>
            <a:ext cx="4059936" cy="1600200"/>
          </a:xfrm>
          <a:prstGeom prst="roundRect">
            <a:avLst>
              <a:gd name="adj" fmla="val 10286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" y="3058668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172968"/>
            <a:ext cx="38313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Dashboard 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3447288"/>
            <a:ext cx="3831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Route Analysis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4632" y="3867912"/>
            <a:ext cx="38313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Interactive Map · Top Origin/Destination Cities · Route-level delays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6592" y="3081528"/>
            <a:ext cx="4059936" cy="1600200"/>
          </a:xfrm>
          <a:prstGeom prst="roundRect">
            <a:avLst>
              <a:gd name="adj" fmla="val 10286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01184" y="3058668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3172968"/>
            <a:ext cx="38313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Dashboard 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73752" y="3447288"/>
            <a:ext cx="3831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Delay Analysis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73752" y="3867912"/>
            <a:ext cx="38313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Root Cause Donut · By Airline Bars · City-level · Type Comparison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9" grpId="0"/>
      <p:bldP spid="10" grpId="0"/>
      <p:bldP spid="13" grpId="0"/>
      <p:bldP spid="14" grpId="0"/>
      <p:bldP spid="15" grpId="0"/>
      <p:bldP spid="18" grpId="0"/>
      <p:bldP spid="19" grpId="0"/>
      <p:bldP spid="20" grpId="0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0A0820">
              <a:alpha val="65000"/>
            </a:srgbClr>
          </a:solidFill>
          <a:ln w="12700">
            <a:solidFill>
              <a:srgbClr val="0A0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Dashboard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29260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Overview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Flight Performance &amp; Delay Analysis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859536"/>
            <a:ext cx="6583680" cy="4069080"/>
          </a:xfrm>
          <a:prstGeom prst="roundRect">
            <a:avLst>
              <a:gd name="adj" fmla="val 4045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36676"/>
            <a:ext cx="2304288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74320" y="914400"/>
            <a:ext cx="644652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859536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14032" y="836676"/>
            <a:ext cx="704088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932688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375,937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49440" y="142646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Total Flights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949440" y="1883664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14032" y="1860804"/>
            <a:ext cx="704088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1956816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0.53 min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49440" y="245059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Avg Weather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949440" y="2907792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14032" y="2884932"/>
            <a:ext cx="704088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2980944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2.40 min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949440" y="347472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Avg NAS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49440" y="3931920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14032" y="3909060"/>
            <a:ext cx="704088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4005072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4.78 min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49440" y="449884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Late Aircraft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2" grpId="0"/>
      <p:bldP spid="15" grpId="0"/>
      <p:bldP spid="16" grpId="0"/>
      <p:bldP spid="19" grpId="0"/>
      <p:bldP spid="20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0A0820">
              <a:alpha val="65000"/>
            </a:srgbClr>
          </a:solidFill>
          <a:ln w="12700">
            <a:solidFill>
              <a:srgbClr val="0A0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Dashboard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29260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Airline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Volume vs Efficiency Scatter Plot · Delay Scores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859536"/>
            <a:ext cx="6583680" cy="4069080"/>
          </a:xfrm>
          <a:prstGeom prst="roundRect">
            <a:avLst>
              <a:gd name="adj" fmla="val 4045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36676"/>
            <a:ext cx="2304288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74320" y="914400"/>
            <a:ext cx="644652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859536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14032" y="836676"/>
            <a:ext cx="704088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932688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Virgin Am.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49440" y="142646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Highest 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6.2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949440" y="1883664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14032" y="1860804"/>
            <a:ext cx="704088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1956816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Am. Airlines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49440" y="245059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Most Flights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75K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949440" y="2907792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14032" y="2884932"/>
            <a:ext cx="704088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2980944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Hawaiian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949440" y="347472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Lowest 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0.3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49440" y="3931920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14032" y="3909060"/>
            <a:ext cx="704088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4005072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$Delta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49440" y="449884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2nd Busiest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69K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2" grpId="0"/>
      <p:bldP spid="15" grpId="0"/>
      <p:bldP spid="16" grpId="0"/>
      <p:bldP spid="19" grpId="0"/>
      <p:bldP spid="20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0A0820">
              <a:alpha val="65000"/>
            </a:srgbClr>
          </a:solidFill>
          <a:ln w="12700">
            <a:solidFill>
              <a:srgbClr val="0A0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Dashboard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29260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Route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Interactive Map · Origin &amp; Destination Cities · Unique Routes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859536"/>
            <a:ext cx="6583680" cy="4069080"/>
          </a:xfrm>
          <a:prstGeom prst="roundRect">
            <a:avLst>
              <a:gd name="adj" fmla="val 4045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36676"/>
            <a:ext cx="2304288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74320" y="914400"/>
            <a:ext cx="644652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859536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14032" y="836676"/>
            <a:ext cx="704088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932688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283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49440" y="142646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Origin Cities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949440" y="1883664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14032" y="1860804"/>
            <a:ext cx="704088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1956816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283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49440" y="245059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Dest Cities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949440" y="2907792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14032" y="2884932"/>
            <a:ext cx="704088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2980944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3,663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949440" y="347472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Unique Routes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49440" y="3931920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14032" y="3909060"/>
            <a:ext cx="704088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4005072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Atlanta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49440" y="449884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Top City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27K flights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2" grpId="0"/>
      <p:bldP spid="15" grpId="0"/>
      <p:bldP spid="16" grpId="0"/>
      <p:bldP spid="19" grpId="0"/>
      <p:bldP spid="20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0A0820">
              <a:alpha val="65000"/>
            </a:srgbClr>
          </a:solidFill>
          <a:ln w="12700">
            <a:solidFill>
              <a:srgbClr val="0A0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48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Dashboard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29260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Delay Analysis — Root Cause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Donut Breakdown · By Airline · By City · Type Comparison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" y="859536"/>
            <a:ext cx="6583680" cy="4069080"/>
          </a:xfrm>
          <a:prstGeom prst="roundRect">
            <a:avLst>
              <a:gd name="adj" fmla="val 4045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36676"/>
            <a:ext cx="2304288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74320" y="914400"/>
            <a:ext cx="644652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859536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14032" y="836676"/>
            <a:ext cx="704088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932688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57.8%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49440" y="142646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Late Aircraft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949440" y="1883664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14032" y="1860804"/>
            <a:ext cx="704088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1956816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35.98%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49440" y="245059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NAS Delay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949440" y="2907792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14032" y="2884932"/>
            <a:ext cx="704088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2980944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6.22%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949440" y="347472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Weather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49440" y="3931920"/>
            <a:ext cx="2011680" cy="987552"/>
          </a:xfrm>
          <a:prstGeom prst="roundRect">
            <a:avLst>
              <a:gd name="adj" fmla="val 166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8E84A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14032" y="3909060"/>
            <a:ext cx="704088" cy="54864"/>
          </a:xfrm>
          <a:prstGeom prst="roundRect">
            <a:avLst>
              <a:gd name="adj" fmla="val 50000"/>
            </a:avLst>
          </a:prstGeom>
          <a:solidFill>
            <a:srgbClr val="8E84A8"/>
          </a:solidFill>
          <a:ln w="12700">
            <a:solidFill>
              <a:srgbClr val="8E84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4005072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369,187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49440" y="449884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Total Delayed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2" grpId="0"/>
      <p:bldP spid="15" grpId="0"/>
      <p:bldP spid="16" grpId="0"/>
      <p:bldP spid="19" grpId="0"/>
      <p:bldP spid="20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868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68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14 / INSIGHTS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320675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🔍  Key Insights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759587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the data tells us about US domestic flights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642" y="1106043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083818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" y="1316355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602" y="1179195"/>
            <a:ext cx="7498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Late Aircraft = #1 Delay Cause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33602" y="1526667"/>
            <a:ext cx="7498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57.8% of all delays stem from late-arriving aircraft — not weather or ATC. This means airline turnaround efficiency is the biggest lever to pull.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0642" y="2130171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234" y="2107311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10" y="2340483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33602" y="2203323"/>
            <a:ext cx="7498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Volume Leaders Aren't Delay Leaders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33602" y="2550795"/>
            <a:ext cx="7498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American (75K) and Delta (69K) fly the most — but Hawaiian Airlines has a delay score of just 0.3, proving scale doesn't require poor performance.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10642" y="3154299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234" y="3131439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810" y="3364611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33602" y="3227451"/>
            <a:ext cx="7498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Atlanta is the Network's Pulse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3602" y="3574923"/>
            <a:ext cx="7498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27K+ flights make Atlanta the busiest hub. Delays there cascade nationally — it's the single most impactful city for network-wide on-time performance.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10642" y="4178427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9B59B6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234" y="4155567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810" y="4388739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33602" y="4251579"/>
            <a:ext cx="7498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NAS Delays Are Systemic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33602" y="4599051"/>
            <a:ext cx="7498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36% of delays come from the National Airspace System — air traffic control, airport congestion. This points to infrastructure issues beyond individual airlines.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 animBg="1"/>
      <p:bldP spid="9" grpId="0"/>
      <p:bldP spid="10" grpId="0"/>
      <p:bldP spid="14" grpId="0"/>
      <p:bldP spid="15" grpId="0"/>
      <p:bldP spid="19" grpId="0"/>
      <p:bldP spid="20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15 /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📈  What the Data Reveals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Patterns, trends &amp; analytical discoveries from 375K flights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059936" cy="1691640"/>
          </a:xfrm>
          <a:prstGeom prst="roundRect">
            <a:avLst>
              <a:gd name="adj" fmla="val 973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367028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52704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481328"/>
            <a:ext cx="3255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Delay Peaks at Hubs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" y="1984248"/>
            <a:ext cx="3803904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Atlanta, Chicago, Denver are the top delay-generating cities. Flights leaving these hubs late create a chain of delays across connected routes.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36592" y="1389888"/>
            <a:ext cx="4059936" cy="1691640"/>
          </a:xfrm>
          <a:prstGeom prst="roundRect">
            <a:avLst>
              <a:gd name="adj" fmla="val 973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01184" y="1367028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527048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1481328"/>
            <a:ext cx="3255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Airline Efficiency Gap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73752" y="1984248"/>
            <a:ext cx="3803904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Virgin America delay score (6.2) vs Hawaiian (0.3) — a 20x difference. Airlines with fewer routes often achieve better on-time records.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7472" y="3172968"/>
            <a:ext cx="4059936" cy="1691640"/>
          </a:xfrm>
          <a:prstGeom prst="roundRect">
            <a:avLst>
              <a:gd name="adj" fmla="val 973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064" y="3150108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310128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33272" y="3264408"/>
            <a:ext cx="3255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SF ↔ LA = Highest NAS Delay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4632" y="3767328"/>
            <a:ext cx="3803904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San Francisco → Los Angeles is the single route with the highest NAS delay (6.77 min avg), driven by Bay Area ATC congestion.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36592" y="3172968"/>
            <a:ext cx="4059936" cy="1691640"/>
          </a:xfrm>
          <a:prstGeom prst="roundRect">
            <a:avLst>
              <a:gd name="adj" fmla="val 973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01184" y="3150108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310128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22392" y="3264408"/>
            <a:ext cx="32552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High Traffic ≠ High Delay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873752" y="3767328"/>
            <a:ext cx="3803904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Southwest Airlines runs 38K flights but maintains a competitive delay score — strong operational scheduling buffers make the difference.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4" grpId="0"/>
      <p:bldP spid="15" grpId="0"/>
      <p:bldP spid="19" grpId="0"/>
      <p:bldP spid="20" grpId="0"/>
      <p:bldP spid="24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4803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4803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16 /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318135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💡 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831977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Actionable strategies derived directly from dashboard findings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16838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093978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63142"/>
            <a:ext cx="566928" cy="594360"/>
          </a:xfrm>
          <a:prstGeom prst="roundRect">
            <a:avLst>
              <a:gd name="adj" fmla="val 19355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45438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189990"/>
            <a:ext cx="760780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Target High-Delay Carriers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1537462"/>
            <a:ext cx="76078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Virgin America (6.2) and Spirit Air (5.8) should audit turnaround schedules. Reducing late aircraft departure time by 20 min could shift the 57.8% delay share significantly.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140966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064" y="2118106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87270"/>
            <a:ext cx="566928" cy="594360"/>
          </a:xfrm>
          <a:prstGeom prst="roundRect">
            <a:avLst>
              <a:gd name="adj" fmla="val 19355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69566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2214118"/>
            <a:ext cx="760780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Optimize Critical Hub Operations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2561590"/>
            <a:ext cx="76078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Atlanta, Chicago, and Dallas account for 65K+ combined departures. Better gate management and buffer scheduling at these hubs has outsized national impact.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3165094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" y="3142234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11398"/>
            <a:ext cx="566928" cy="594360"/>
          </a:xfrm>
          <a:prstGeom prst="roundRect">
            <a:avLst>
              <a:gd name="adj" fmla="val 19355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93694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3238246"/>
            <a:ext cx="760780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Coordinate NAS-Level Delays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585718"/>
            <a:ext cx="76078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36% of delays are NAS-related. Airlines should work with ATC on slot scheduling and explore CDM (Collaborative Decision Making) at peak-congestion airports.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4189222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" y="4166362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335526"/>
            <a:ext cx="566928" cy="594360"/>
          </a:xfrm>
          <a:prstGeom prst="roundRect">
            <a:avLst>
              <a:gd name="adj" fmla="val 19355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417822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4262374"/>
            <a:ext cx="760780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Learn from Hawaiian Airlines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" y="4609846"/>
            <a:ext cx="76078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Score of 0.3 — the lowest in the dataset. Point-to-point route structure, fewer connections, and disciplined turnaround times are best practices to replicate.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1" grpId="0"/>
      <p:bldP spid="15" grpId="0"/>
      <p:bldP spid="16" grpId="0"/>
      <p:bldP spid="17" grpId="0"/>
      <p:bldP spid="21" grpId="0"/>
      <p:bldP spid="22" grpId="0"/>
      <p:bldP spid="23" grpId="0"/>
      <p:bldP spid="27" grpId="0"/>
      <p:bldP spid="28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17 / LEARNINGS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🧠  Insights Gained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engineering &amp; analytical lessons from this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059936" cy="1664208"/>
          </a:xfrm>
          <a:prstGeom prst="roundRect">
            <a:avLst>
              <a:gd name="adj" fmla="val 989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367028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517904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1481328"/>
            <a:ext cx="32369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ETL is the Foundation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" y="1993392"/>
            <a:ext cx="380390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Pentaho Spoon made the transformation repeatable and parameterized. A well-built ETL job saved hours of manual SQL work.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36592" y="1389888"/>
            <a:ext cx="4059936" cy="1664208"/>
          </a:xfrm>
          <a:prstGeom prst="roundRect">
            <a:avLst>
              <a:gd name="adj" fmla="val 989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01184" y="1367028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517904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31536" y="1481328"/>
            <a:ext cx="32369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Schema Design Multiplies Value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73752" y="1993392"/>
            <a:ext cx="380390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 schema made every Power BI measure faster to write. Good modeling at the start pays dividends in every downstream step.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47472" y="3145536"/>
            <a:ext cx="4059936" cy="1664208"/>
          </a:xfrm>
          <a:prstGeom prst="roundRect">
            <a:avLst>
              <a:gd name="adj" fmla="val 989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064" y="3122676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27355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3236976"/>
            <a:ext cx="32369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Visualization Drives Decisions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4632" y="3749040"/>
            <a:ext cx="380390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raw numbers meant nothing until charted. Power BI turned abstract delay averages into immediately actionable airline comparisons.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36592" y="3145536"/>
            <a:ext cx="4059936" cy="1664208"/>
          </a:xfrm>
          <a:prstGeom prst="roundRect">
            <a:avLst>
              <a:gd name="adj" fmla="val 989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9B59B6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01184" y="3122676"/>
            <a:ext cx="1420978" cy="54864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27355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31536" y="3236976"/>
            <a:ext cx="32369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Aggregation is the Secret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873752" y="3749040"/>
            <a:ext cx="380390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Reducing 445K → 6K without losing insight was the highest-impact optimization. Smart summarization is a core Data Engineering skill.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4" grpId="0"/>
      <p:bldP spid="15" grpId="0"/>
      <p:bldP spid="19" grpId="0"/>
      <p:bldP spid="20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18 / TECH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🛠️  Technology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Tools that powered this end-to-end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2633472" cy="3291840"/>
          </a:xfrm>
          <a:prstGeom prst="roundRect">
            <a:avLst>
              <a:gd name="adj" fmla="val 625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367028"/>
            <a:ext cx="921715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1600200"/>
            <a:ext cx="768096" cy="768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487168"/>
            <a:ext cx="263347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MySQL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65760" y="2916936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Source &amp; Storage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" y="324612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Stored both the raw 445K-row dataset and the final cleaned, aggregated 6K-row analytical table. Used for all SQL view definitions.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55848" y="1389888"/>
            <a:ext cx="2633472" cy="3291840"/>
          </a:xfrm>
          <a:prstGeom prst="roundRect">
            <a:avLst>
              <a:gd name="adj" fmla="val 625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0440" y="1367028"/>
            <a:ext cx="921715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1600200"/>
            <a:ext cx="768096" cy="7680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55848" y="2487168"/>
            <a:ext cx="263347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Pentaho Spoon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355848" y="2916936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ETL Engine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83864" y="324612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Orchestrated all extraction, transformation (GROUP BY logic, aggregation), and load operations via visual job/transformation pipelines.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345936" y="1389888"/>
            <a:ext cx="2633472" cy="3291840"/>
          </a:xfrm>
          <a:prstGeom prst="roundRect">
            <a:avLst>
              <a:gd name="adj" fmla="val 625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10528" y="1367028"/>
            <a:ext cx="921715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4" y="1600200"/>
            <a:ext cx="768096" cy="7680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45936" y="2487168"/>
            <a:ext cx="263347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345936" y="2916936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73952" y="324612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Connected to MySQL to build 4 interactive dashboards with slicers, KPI cards, scatter plots, maps, and stacked bar charts.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1" grpId="0"/>
      <p:bldP spid="15" grpId="0"/>
      <p:bldP spid="16" grpId="0"/>
      <p:bldP spid="17" grpId="0"/>
      <p:bldP spid="21" grpId="0"/>
      <p:bldP spid="22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19 / 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⚠️  Challenges Faced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Real obstacles encountered — and how they were overcome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8449056" cy="1051560"/>
          </a:xfrm>
          <a:prstGeom prst="roundRect">
            <a:avLst>
              <a:gd name="adj" fmla="val 15652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394460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00784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508760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Large Dataset Memory Issues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70432" y="1892808"/>
            <a:ext cx="7498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445K rows caused Spoon to crash during initial runs. Solved by increasing JVM heap size and processing data in staged chunks using filtered input steps.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472" y="2642616"/>
            <a:ext cx="8449056" cy="1051560"/>
          </a:xfrm>
          <a:prstGeom prst="roundRect">
            <a:avLst>
              <a:gd name="adj" fmla="val 15652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" y="2619756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26080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70432" y="2734056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 Refresh Lag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70432" y="3118104"/>
            <a:ext cx="7498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Loading raw data into Power BI took 8–12 minutes per refresh. Resolved by pre-aggregating in MySQL and using the optimized view as the data source instead.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47472" y="3867912"/>
            <a:ext cx="8449056" cy="1051560"/>
          </a:xfrm>
          <a:prstGeom prst="roundRect">
            <a:avLst>
              <a:gd name="adj" fmla="val 15652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9B59B6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064" y="3845052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5137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70432" y="3959352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9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Limited Row-Level Granularity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70432" y="4343400"/>
            <a:ext cx="7498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GROUP BY aggregation removed individual flight details. This required careful decisions about which dimensions to preserve vs. summarize for dashboard use.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4" grpId="0"/>
      <p:bldP spid="15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 / FUTURE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🚀  Future Improvements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Making this pipeline smarter, faster, and more scalable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2633472" cy="3291840"/>
          </a:xfrm>
          <a:prstGeom prst="roundRect">
            <a:avLst>
              <a:gd name="adj" fmla="val 625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367028"/>
            <a:ext cx="921715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160020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450592"/>
            <a:ext cx="263347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Pipeline Automation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5488" y="2926080"/>
            <a:ext cx="2414016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Schedule Pentaho jobs via cron or Airflow to run nightly — fully automated data refresh without manual execution every time.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55848" y="1389888"/>
            <a:ext cx="2633472" cy="3291840"/>
          </a:xfrm>
          <a:prstGeom prst="roundRect">
            <a:avLst>
              <a:gd name="adj" fmla="val 625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367028"/>
            <a:ext cx="921715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160020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55848" y="2450592"/>
            <a:ext cx="263347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Incremental Loading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65576" y="2926080"/>
            <a:ext cx="2414016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Instead of full table reload each run, load only new/changed records using CDC (Change Data Capture) or timestamp-based delta queries.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45936" y="1389888"/>
            <a:ext cx="2633472" cy="3291840"/>
          </a:xfrm>
          <a:prstGeom prst="roundRect">
            <a:avLst>
              <a:gd name="adj" fmla="val 625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0528" y="1367028"/>
            <a:ext cx="921715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1600200"/>
            <a:ext cx="731520" cy="7315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2450592"/>
            <a:ext cx="263347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Cloud Migration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55664" y="2926080"/>
            <a:ext cx="2414016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Move MySQL to AWS RDS or Azure SQL. Connect Power BI Service for cloud-hosted dashboards with scheduled refresh and public sharing.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4" grpId="0"/>
      <p:bldP spid="15" grpId="0"/>
      <p:bldP spid="19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1480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90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1480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21 / FUTURE 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337820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🔮  Future Scope — Prediction &amp;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78689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E84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Taking this project from analytics to intelligence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06043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E8553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083183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61491"/>
            <a:ext cx="566928" cy="576072"/>
          </a:xfrm>
          <a:prstGeom prst="roundRect">
            <a:avLst>
              <a:gd name="adj" fmla="val 19355"/>
            </a:avLst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34643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1179195"/>
            <a:ext cx="76078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53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ML Delay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1526667"/>
            <a:ext cx="76078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Train classification models (Random Forest, XGBoost) to predict whether a flight will be delayed based on airline, origin, time of day, and season.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130171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F4A828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064" y="2107311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85619"/>
            <a:ext cx="566928" cy="576072"/>
          </a:xfrm>
          <a:prstGeom prst="roundRect">
            <a:avLst>
              <a:gd name="adj" fmla="val 19355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58771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2203323"/>
            <a:ext cx="76078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Traffic Forecasting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2550795"/>
            <a:ext cx="76078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Use time-series models (Facebook Prophet, LSTM) to forecast monthly flight volumes per city and airline for capacity planning.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3154299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" y="3131439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09747"/>
            <a:ext cx="566928" cy="576072"/>
          </a:xfrm>
          <a:prstGeom prst="roundRect">
            <a:avLst>
              <a:gd name="adj" fmla="val 19355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82899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3227451"/>
            <a:ext cx="76078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Real-Time Streaming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574923"/>
            <a:ext cx="76078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Integrate FlightAware or OpenSky API for live flight data. Build a Power BI streaming dataset that updates every minute with live delays.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4178427"/>
            <a:ext cx="8449056" cy="896112"/>
          </a:xfrm>
          <a:prstGeom prst="roundRect">
            <a:avLst>
              <a:gd name="adj" fmla="val 18367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9B59B6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" y="4155567"/>
            <a:ext cx="2957170" cy="54864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333875"/>
            <a:ext cx="566928" cy="576072"/>
          </a:xfrm>
          <a:prstGeom prst="roundRect">
            <a:avLst>
              <a:gd name="adj" fmla="val 19355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407027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8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78992" y="4251579"/>
            <a:ext cx="76078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Automated Anomaly Alerts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" y="4599051"/>
            <a:ext cx="76078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Set Power BI alert thresholds — notify ops teams automatically when delay scores exceed defined SLA limits for any airline or hub.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0" grpId="0"/>
      <p:bldP spid="11" grpId="0"/>
      <p:bldP spid="15" grpId="0"/>
      <p:bldP spid="16" grpId="0"/>
      <p:bldP spid="17" grpId="0"/>
      <p:bldP spid="21" grpId="0"/>
      <p:bldP spid="22" grpId="0"/>
      <p:bldP spid="23" grpId="0"/>
      <p:bldP spid="27" grpId="0"/>
      <p:bldP spid="28" grpId="0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83845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✈  Flight Data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832485"/>
            <a:ext cx="6858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A8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Pipeline &amp; Dashboard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399413"/>
            <a:ext cx="4114800" cy="41148"/>
          </a:xfrm>
          <a:prstGeom prst="roundRect">
            <a:avLst>
              <a:gd name="adj" fmla="val 44444"/>
            </a:avLst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609725"/>
            <a:ext cx="6217920" cy="877824"/>
          </a:xfrm>
          <a:prstGeom prst="roundRect">
            <a:avLst>
              <a:gd name="adj" fmla="val 1875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2ECC8E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86865"/>
            <a:ext cx="2176272" cy="54864"/>
          </a:xfrm>
          <a:prstGeom prst="roundRect">
            <a:avLst>
              <a:gd name="adj" fmla="val 50000"/>
            </a:avLst>
          </a:prstGeom>
          <a:solidFill>
            <a:srgbClr val="2ECC8E"/>
          </a:solidFill>
          <a:ln w="12700">
            <a:solidFill>
              <a:srgbClr val="2ECC8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810893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682877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Pipeline Complete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2030349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MySQL → Spoon ETL → SQL Views → Power BI — fully functional and validated end-to-end.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84048" y="2615565"/>
            <a:ext cx="6217920" cy="877824"/>
          </a:xfrm>
          <a:prstGeom prst="roundRect">
            <a:avLst>
              <a:gd name="adj" fmla="val 1875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A8D8EA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592705"/>
            <a:ext cx="2176272" cy="54864"/>
          </a:xfrm>
          <a:prstGeom prst="roundRect">
            <a:avLst>
              <a:gd name="adj" fmla="val 50000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816733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2688717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8E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Insights Delivered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70432" y="3036189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 dashboards surfacing actionable intelligence on delays, airlines, routes, and root causes.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84048" y="3621405"/>
            <a:ext cx="6217920" cy="877824"/>
          </a:xfrm>
          <a:prstGeom prst="roundRect">
            <a:avLst>
              <a:gd name="adj" fmla="val 18750"/>
            </a:avLst>
          </a:prstGeom>
          <a:solidFill>
            <a:srgbClr val="0A0820">
              <a:alpha val="55000"/>
            </a:srgbClr>
          </a:solidFill>
          <a:ln w="10160">
            <a:solidFill>
              <a:srgbClr val="9B59B6">
                <a:alpha val="80000"/>
              </a:srgbClr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598545"/>
            <a:ext cx="2176272" cy="54864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822573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3694557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Scalable Architecture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70432" y="4042029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E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 schema + aggregated views designed to scale with more years, airlines, or dimensions.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84048" y="4581525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A8D8EA">
              <a:alpha val="75000"/>
            </a:srgbClr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84048" y="4581525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MySQL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1463040" y="4581525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4A828">
              <a:alpha val="75000"/>
            </a:srgbClr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463040" y="4581525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Pentaho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2724912" y="4581525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8553E">
              <a:alpha val="75000"/>
            </a:srgbClr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724912" y="4581525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078224" y="4581525"/>
            <a:ext cx="1920240" cy="237744"/>
          </a:xfrm>
          <a:prstGeom prst="roundRect">
            <a:avLst>
              <a:gd name="adj" fmla="val 50000"/>
            </a:avLst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078224" y="4581525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Engineering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3" grpId="0"/>
      <p:bldP spid="14" grpId="0"/>
      <p:bldP spid="18" grpId="0"/>
      <p:bldP spid="19" grpId="0"/>
      <p:bldP spid="21" grpId="0"/>
      <p:bldP spid="23" grpId="0"/>
      <p:bldP spid="25" grpId="0"/>
      <p:bldP spid="2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1951</Words>
  <Application>Microsoft Office PowerPoint</Application>
  <PresentationFormat>On-screen Show (16:9)</PresentationFormat>
  <Paragraphs>359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Parth Sharma</cp:lastModifiedBy>
  <cp:revision>12</cp:revision>
  <dcterms:created xsi:type="dcterms:W3CDTF">2026-04-24T02:54:00Z</dcterms:created>
  <dcterms:modified xsi:type="dcterms:W3CDTF">2026-04-25T18:40:15Z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496AD284940D4348B944761C53C202E2_12</vt:lpwstr>
  </property>
  <property fmtid="{D5CDD505-2E9C-101B-9397-08002B2CF9AE}" pid="3" name="KSOProductBuildVer">
    <vt:lpwstr>1033-12.1.0.25242</vt:lpwstr>
  </property>
</Properties>
</file>